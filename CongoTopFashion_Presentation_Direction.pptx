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CongoTopFashion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992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 i="0">
                <a:solidFill>
                  <a:srgbClr val="CFE2EC"/>
                </a:solidFill>
                <a:latin typeface="Calibri"/>
              </a:rPr>
              <a:t>Analyse de la base de données commerciale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FC0D2"/>
                </a:solidFill>
                <a:latin typeface="Calibri"/>
              </a:rPr>
              <a:t>Diagnostic et recommandations à la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FC0D2"/>
                </a:solidFill>
                <a:latin typeface="Calibri"/>
              </a:rPr>
              <a:t>Période 2021 — 2025   ·   24 tables   ·   100 351 enregistrements   ·   15 000 commandes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13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FA5BA"/>
                </a:solidFill>
                <a:latin typeface="Calibri"/>
              </a:rPr>
              <a:t>29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Les chiffres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Performance cumulée sur la période 2021-2025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2606040" cy="50292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2C6E8E"/>
                </a:solidFill>
                <a:latin typeface="Calibri"/>
              </a:rPr>
              <a:t>2,39 M$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Chiffre d'affaires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sur 5 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60020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92424" y="1600200"/>
            <a:ext cx="2606040" cy="50292"/>
          </a:xfrm>
          <a:prstGeom prst="rect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92424" y="1874519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5B9279"/>
                </a:solidFill>
                <a:latin typeface="Calibri"/>
              </a:rPr>
              <a:t>686 k$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44144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Bénéfice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cumulé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0020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260604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0" y="1874519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8A33D"/>
                </a:solidFill>
                <a:latin typeface="Calibri"/>
              </a:rPr>
              <a:t>28,8 %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44144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Marge nette réelle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pondérée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5" y="160020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43415" y="1600200"/>
            <a:ext cx="2606040" cy="50292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43415" y="1874519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2C6E8E"/>
                </a:solidFill>
                <a:latin typeface="Calibri"/>
              </a:rPr>
              <a:t>15 000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44144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Commandes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29443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dont 931 annulées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56616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66928" y="3566160"/>
            <a:ext cx="2606040" cy="50292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384048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2C6E8E"/>
                </a:solidFill>
                <a:latin typeface="Calibri"/>
              </a:rPr>
              <a:t>170 $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40740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Panier moyen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91032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par commande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92424" y="356616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392424" y="3566160"/>
            <a:ext cx="2606040" cy="50292"/>
          </a:xfrm>
          <a:prstGeom prst="rect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392424" y="384048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5B9279"/>
                </a:solidFill>
                <a:latin typeface="Calibri"/>
              </a:rPr>
              <a:t>2 000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440740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491032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dont 341 VIP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56616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17920" y="3566160"/>
            <a:ext cx="260604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7920" y="384048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13,3 %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440740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Taux de retour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491032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64 831 $ remboursés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43415" y="3566160"/>
            <a:ext cx="2606040" cy="1691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043415" y="3566160"/>
            <a:ext cx="260604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43415" y="3840480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8A33D"/>
                </a:solidFill>
                <a:latin typeface="Calibri"/>
              </a:rPr>
              <a:t>+16,4 %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5" y="4407408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Croissance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491032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contre +51 % en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C1553D"/>
                </a:solidFill>
                <a:latin typeface="Calibri"/>
              </a:rPr>
              <a:t>La marge nette réelle est de 28,8 % et non 33,45 % comme indiqué dans le tableau de bord actuel : cet écart de 4,7 points provient d'une moyenne de pourcentages au lieu d'un ratio pondéré.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Six constats majeurs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Ce que révèle l'analyse de la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349240" cy="13716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4864" cy="1371600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553D"/>
                </a:solidFill>
                <a:latin typeface="Calibri"/>
              </a:rPr>
              <a:t>Surstock 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493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8,02 M$ de stock pour 274 k$ de coût des ventes annuel, soit 29 années de couverture. 4,77 M$ immobilisés en surstock.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572768"/>
            <a:ext cx="5349240" cy="13716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36208" y="1572768"/>
            <a:ext cx="54864" cy="1371600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55664" y="1719072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553D"/>
                </a:solidFill>
                <a:latin typeface="Calibri"/>
              </a:rPr>
              <a:t>Objectifs inopérants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075688"/>
            <a:ext cx="493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Aucun des 500 objectifs atteint en 5 ans. Taux de réalisation moyen : 14,2 %. Primes versées : 69 $.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145536"/>
            <a:ext cx="5349240" cy="13716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54864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3291840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Marge surestimée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648456"/>
            <a:ext cx="493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Le reporting affiche 33,45 % au lieu de 28,76 %. Écart de 4,7 points sur l'indicateur central.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145536"/>
            <a:ext cx="5349240" cy="13716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6208" y="3145536"/>
            <a:ext cx="54864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55664" y="3291840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Marketing disproportionné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648456"/>
            <a:ext cx="493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31,3 % du CA en budget marketing. 55 campagnes sans retour (192 944 $). Attribution incohérente.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718304"/>
            <a:ext cx="5349240" cy="13716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4718304"/>
            <a:ext cx="54864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6384" y="4864608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Double concentration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221224"/>
            <a:ext cx="493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E-commerce : 56,7 % du CA. Kinshasa : 79,6 %. 20 % des clients font 62 % du 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4718304"/>
            <a:ext cx="5349240" cy="13716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36208" y="4718304"/>
            <a:ext cx="54864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55664" y="4864608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Croissance en freinage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221224"/>
            <a:ext cx="49377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Le rythme passe de +51 % (2022) à +16 % (2025) : divisé par trois en quatre 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Une croissance forte, mais qui décélère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Chiffre d'affaires multiplié par 3,1 en cinq 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01_evolution_ca_m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858000" cy="385762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26679" y="1600200"/>
          <a:ext cx="4114800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05840"/>
                <a:gridCol w="82296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Année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Croissance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Marge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228 634 $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29,4 %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346 304 $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+51,5 %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29,1 %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492 486 $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+42,2 %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28,6 %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609 231 $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+23,7 %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28,6 %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709 171 $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+16,4 %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28,6 %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3794760"/>
            <a:ext cx="3931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Décélération nette. </a:t>
            </a:r>
            <a:r>
              <a:rPr sz="1150">
                <a:solidFill>
                  <a:srgbClr val="1A1A1A"/>
                </a:solidFill>
                <a:latin typeface="Calibri"/>
              </a:rPr>
              <a:t>Le rythme de croissance a été divisé par trois entre 2022 et 2025.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Panier moyen stagnant. </a:t>
            </a:r>
            <a:r>
              <a:rPr sz="1150">
                <a:solidFill>
                  <a:srgbClr val="1A1A1A"/>
                </a:solidFill>
                <a:latin typeface="Calibri"/>
              </a:rPr>
              <a:t>Il progresse de 136 $ à 174 $ jusqu'en 2023 puis plafonne à 180 $.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Marge stable. </a:t>
            </a:r>
            <a:r>
              <a:rPr sz="1150">
                <a:solidFill>
                  <a:srgbClr val="1A1A1A"/>
                </a:solidFill>
                <a:latin typeface="Calibri"/>
              </a:rPr>
              <a:t>Entre 28,5 % et 29,4 % : les coûts d'achat sont bien maîtrisés.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Répartition des ventes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Une transition numérique avancée, une forte concentration géographique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04_ca_par_c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5486400" cy="3526971"/>
          </a:xfrm>
          <a:prstGeom prst="rect">
            <a:avLst/>
          </a:prstGeom>
        </p:spPr>
      </p:pic>
      <p:pic>
        <p:nvPicPr>
          <p:cNvPr id="7" name="Picture 6" descr="05_ca_par_boutiq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0749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Le digital dépasse le physique. </a:t>
            </a:r>
            <a:r>
              <a:rPr sz="1150">
                <a:solidFill>
                  <a:srgbClr val="1A1A1A"/>
                </a:solidFill>
                <a:latin typeface="Calibri"/>
              </a:rPr>
              <a:t>Les canaux en ligne cumulent 56,7 % du chiffre d'affaires contre 38,3 % pour la boutique.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Instagram et WhatsApp portent les meilleurs paniers. </a:t>
            </a:r>
            <a:r>
              <a:rPr sz="1150">
                <a:solidFill>
                  <a:srgbClr val="1A1A1A"/>
                </a:solidFill>
                <a:latin typeface="Calibri"/>
              </a:rPr>
              <a:t>179 $ et 177 $, contre 166 $ en boutique physique : ces canaux attirent une clientèle à plus fort pouvoir d'achat.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Concentration à surveiller. </a:t>
            </a:r>
            <a:r>
              <a:rPr sz="1150">
                <a:solidFill>
                  <a:srgbClr val="1A1A1A"/>
                </a:solidFill>
                <a:latin typeface="Calibri"/>
              </a:rPr>
              <a:t>La structure e-commerce génère 56,7 % du CA et Kinshasa 79,6 % : une défaillance sur l'un de ces deux piliers aurait un impact majeur.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Un catalogue très déséquilibré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36 % des références produisent 80 % du chiffre d'affaires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07_pareto_prod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577840" cy="358575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737360"/>
          <a:ext cx="5029200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37160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Classe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Références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catalogue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du CA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36,4 %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79,9 %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29,3 %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15,0 %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34,3 %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5,0 %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38328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Classe A : 254 références. </a:t>
            </a:r>
            <a:r>
              <a:rPr sz="1150">
                <a:solidFill>
                  <a:srgbClr val="1A1A1A"/>
                </a:solidFill>
                <a:latin typeface="Calibri"/>
              </a:rPr>
              <a:t>Elles génèrent 79,9 % du CA. C'est sur elles que doivent porter les approvisionnements.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Classe C : 239 références. </a:t>
            </a:r>
            <a:r>
              <a:rPr sz="1150">
                <a:solidFill>
                  <a:srgbClr val="1A1A1A"/>
                </a:solidFill>
                <a:latin typeface="Calibri"/>
              </a:rPr>
              <a:t>Elles ne représentent que 5,0 % du CA mais mobilisent stock, espace de vente et logistique.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Action directe. </a:t>
            </a:r>
            <a:r>
              <a:rPr sz="1150">
                <a:solidFill>
                  <a:srgbClr val="1A1A1A"/>
                </a:solidFill>
                <a:latin typeface="Calibri"/>
              </a:rPr>
              <a:t>Le déstockage de la classe C constitue le premier levier de libération de trésorerie.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9279"/>
                </a:solidFill>
                <a:latin typeface="Calibri"/>
              </a:rPr>
              <a:t>Meilleure marge du catalogue : les accessoires de mode (35,9 %) pour seulement 109 001 $ de CA — un axe de développement identifié.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17 % des clients génèrent la moitié du chiffre d'affaires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Segmentation RFM et concentration de la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8_segmentation_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5760720" cy="3600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20840" y="1600200"/>
            <a:ext cx="233172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720840" y="1600200"/>
            <a:ext cx="2331720" cy="50292"/>
          </a:xfrm>
          <a:prstGeom prst="rect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0840" y="187451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5B9279"/>
                </a:solidFill>
                <a:latin typeface="Calibri"/>
              </a:rPr>
              <a:t>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2441448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Clients 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79" y="2715768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17,1 % de la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600200"/>
            <a:ext cx="233172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281160" y="1600200"/>
            <a:ext cx="2331720" cy="50292"/>
          </a:xfrm>
          <a:prstGeom prst="rect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81160" y="187451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5B9279"/>
                </a:solidFill>
                <a:latin typeface="Calibri"/>
              </a:rPr>
              <a:t>49,2 %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441448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de tout le 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715768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soit 1,17 M$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246120"/>
            <a:ext cx="233172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720840" y="3246120"/>
            <a:ext cx="233172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0840" y="35204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8A33D"/>
                </a:solidFill>
                <a:latin typeface="Calibri"/>
              </a:rPr>
              <a:t>7,4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4087368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Écart de valeur vie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361688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6 200 $ vs 843 $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3246120"/>
            <a:ext cx="233172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281160" y="3246120"/>
            <a:ext cx="233172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81160" y="35204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631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087368"/>
            <a:ext cx="2148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Clients perdus/inactifs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361688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31,5 % de la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1206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Un noyau de valeur à protéger. </a:t>
            </a:r>
            <a:r>
              <a:rPr sz="1150">
                <a:solidFill>
                  <a:srgbClr val="1A1A1A"/>
                </a:solidFill>
                <a:latin typeface="Calibri"/>
              </a:rPr>
              <a:t>Champions et clients fidèles représentent 34,6 % de la base et 77,3 % du chiffre d'affaires.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Une acquisition à requalifier. </a:t>
            </a:r>
            <a:r>
              <a:rPr sz="1150">
                <a:solidFill>
                  <a:srgbClr val="1A1A1A"/>
                </a:solidFill>
                <a:latin typeface="Calibri"/>
              </a:rPr>
              <a:t>257 clients inscrits (12,9 %) n'ont jamais passé commande : le parcours de première commande doit être analysé.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Logistique et retours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Le retard de livraison fait chuter la satisfaction de 27 %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12_motifs_ret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486400" cy="3086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645920"/>
            <a:ext cx="246888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246888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44,1 %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87168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des retours = problème de taille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157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881 cas · 30 450 $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645920"/>
            <a:ext cx="246888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098280" y="1645920"/>
            <a:ext cx="246888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192024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15,3 %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487168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de retard en livraison à domicile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7157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sur 7 776 livraisons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91840"/>
            <a:ext cx="5166360" cy="13716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0" y="3291840"/>
            <a:ext cx="54864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20256" y="34381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Une cause interne, pas un problème de prestataire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7947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Les trois transporteurs affichent des taux de retard quasi identiques (14,9 % à 15,7 %) et des délais équivalents. Changer de transporteur ne résoudrait rien : le problème se situe dans le processus interne de préparation et d'expédition.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206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Un levier simple et rentable. </a:t>
            </a:r>
            <a:r>
              <a:rPr sz="1150">
                <a:solidFill>
                  <a:srgbClr val="1A1A1A"/>
                </a:solidFill>
                <a:latin typeface="Calibri"/>
              </a:rPr>
              <a:t>Le problème de taille est le premier motif de retour et relève de l'information produit, pas de la qualité : guide des tailles, photos portées, conseil sur WhatsApp.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Impact mesuré du retard. </a:t>
            </a:r>
            <a:r>
              <a:rPr sz="1150">
                <a:solidFill>
                  <a:srgbClr val="1A1A1A"/>
                </a:solidFill>
                <a:latin typeface="Calibri"/>
              </a:rPr>
              <a:t>Satisfaction de 3,97/5 pour une livraison à l'heure contre 2,91/5 en cas de retard.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Un budget marketing disproportionné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31,3 % du chiffre d'affaires, contre une norme sectorielle de 8 à 12 %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13_roas_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5577840" cy="31375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37960" y="1645920"/>
            <a:ext cx="237744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37960" y="1645920"/>
            <a:ext cx="237744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E8A33D"/>
                </a:solidFill>
                <a:latin typeface="Calibri"/>
              </a:rPr>
              <a:t>746 510 $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8716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Budget marketing cumulé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157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31,3 % du 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645920"/>
            <a:ext cx="237744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189720" y="1645920"/>
            <a:ext cx="237744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89720" y="1920240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48716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Campagnes sans retour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7157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192 944 $ engagés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3291840"/>
            <a:ext cx="5029200" cy="146304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37960" y="3291840"/>
            <a:ext cx="54864" cy="1463040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57416" y="3438144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553D"/>
                </a:solidFill>
                <a:latin typeface="Calibri"/>
              </a:rPr>
              <a:t>Le modèle d'attribution est invalide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3794760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Les campagnes déclarent 3,25 M$ de CA généré alors que l'entreprise a réalisé 2,39 M$ au total. Le chiffre attribué dépasse de 36 % le chiffre réel : une même vente est comptée plusieurs fois. Aucune décision budgétaire ne doit être prise avant correction.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6636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WhatsApp Business domine. </a:t>
            </a:r>
            <a:r>
              <a:rPr sz="1150">
                <a:solidFill>
                  <a:srgbClr val="1A1A1A"/>
                </a:solidFill>
                <a:latin typeface="Calibri"/>
              </a:rPr>
              <a:t>ROAS de 9,65 et coût par conversion de 4,02 $, le meilleur des sept canaux — cohérent avec les usages en RDC.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2C6E8E"/>
                </a:solidFill>
              </a:rPr>
              <a:t>▪  </a:t>
            </a:r>
            <a:r>
              <a:rPr sz="1150" b="1">
                <a:solidFill>
                  <a:srgbClr val="1A1A1A"/>
                </a:solidFill>
                <a:latin typeface="Calibri"/>
              </a:rPr>
              <a:t>Les promotions détruisent de la valeur. </a:t>
            </a:r>
            <a:r>
              <a:rPr sz="1150">
                <a:solidFill>
                  <a:srgbClr val="1A1A1A"/>
                </a:solidFill>
                <a:latin typeface="Calibri"/>
              </a:rPr>
              <a:t>Panier de 162 $ sous promotion contre 175 $ sans, et marge de 31,1 % contre 35,0 %.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Le point le plus critique : le surstock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29 années de couverture de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6974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69748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8,02 M$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Valeur du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529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6 000 lignes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554480"/>
            <a:ext cx="26974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20440" y="1554480"/>
            <a:ext cx="2697480" cy="50292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82880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2C6E8E"/>
                </a:solidFill>
                <a:latin typeface="Calibri"/>
              </a:rPr>
              <a:t>274 k$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95728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Coût des ventes annuel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529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moyenne 2021-2025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3952" y="1554480"/>
            <a:ext cx="26974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73952" y="1554480"/>
            <a:ext cx="269748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3952" y="182880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29,3 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395728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Couverture de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529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norme : 2 à 4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27464" y="1554480"/>
            <a:ext cx="219456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427464" y="1554480"/>
            <a:ext cx="2194560" cy="50292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27464" y="182880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1553D"/>
                </a:solidFill>
                <a:latin typeface="Calibri"/>
              </a:rPr>
              <a:t>0,16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2395728"/>
            <a:ext cx="20116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Rotation moyenne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85292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666666"/>
                </a:solidFill>
                <a:latin typeface="Calibri"/>
              </a:rPr>
              <a:t>renouvellement /6 ans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520440"/>
            <a:ext cx="5486400" cy="16002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66928" y="3520440"/>
            <a:ext cx="54864" cy="1600200"/>
          </a:xfrm>
          <a:prstGeom prst="rect">
            <a:avLst/>
          </a:prstGeom>
          <a:solidFill>
            <a:srgbClr val="C1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366674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1553D"/>
                </a:solidFill>
                <a:latin typeface="Calibri"/>
              </a:rPr>
              <a:t>L'entreprise achète 3,6 fois plus qu'elle ne vend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023360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Les achats fournisseurs cumulés atteignent 4 922 934 $ sur la période, contre un coût des marchandises vendues de 1 370 696 $. 1 392 lignes de stock sont en surstock, représentant 4 773 794 $ de trésorerie immobilisée.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20440"/>
            <a:ext cx="5303520" cy="160020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309360" y="3520440"/>
            <a:ext cx="54864" cy="1600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28816" y="366674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Et pourtant, 87 ruptures coexistent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0233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216 lignes sont sous le stock minimum et 87 en rupture totale. Le problème n'est donc pas seulement un excès global mais aussi une mauvaise allocation entre références. 87,8 % des inventaires présentent un écart avec le stock théorique.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440680"/>
            <a:ext cx="11064240" cy="82296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6235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5E43"/>
                </a:solidFill>
                <a:latin typeface="Calibri"/>
              </a:rPr>
              <a:t>Levier prioritaire : geler les approvisionnements sur les références en surstock et déstocker les 239 produits de classe C. Libération de trésorerie estimée entre 2 et 3 M$.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Un système d'objectifs inopérant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Aucun des 500 objectifs atteint en cinq 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15_objectifs_bou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5852160" cy="36576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1691640"/>
          <a:ext cx="4846320" cy="285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Objectifs fixés (2021-2025)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Objectifs atteints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Taux de réalisation moyen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14,2 %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Objectif annuel / boutique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376 767 $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Réalisé annuel / boutique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45 016 $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Objectif total 2025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5 590 559 $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CA réel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709 171 $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Primes versées sur 5 ans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69 $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20840" y="4572000"/>
            <a:ext cx="4846320" cy="1691640"/>
          </a:xfrm>
          <a:prstGeom prst="rect">
            <a:avLst/>
          </a:prstGeom>
          <a:solidFill>
            <a:srgbClr val="FD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720840" y="4572000"/>
            <a:ext cx="54864" cy="1691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0296" y="4718304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A33D"/>
                </a:solidFill>
                <a:latin typeface="Calibri"/>
              </a:rPr>
              <a:t>Un objectif inatteignable ne pilote plus rien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5074920"/>
            <a:ext cx="4434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L'objectif assigné pour 2025 représente près de huit fois le chiffre d'affaires réalisé. Recalibrer sur le réalisé N-1 majoré de 15 à 20 %, et réactiver le système de primes.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Projection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Régression sur 60 mois avec correction saisonnière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14_prevision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7406640" cy="33329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737360"/>
            <a:ext cx="1600200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321040" y="1737360"/>
            <a:ext cx="1600200" cy="50292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40" y="2011679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2C6E8E"/>
                </a:solidFill>
                <a:latin typeface="Calibri"/>
              </a:rPr>
              <a:t>874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78608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CA prévu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737360"/>
            <a:ext cx="1554480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058400" y="1737360"/>
            <a:ext cx="1554480" cy="50292"/>
          </a:xfrm>
          <a:prstGeom prst="rect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0" y="201167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5B9279"/>
                </a:solidFill>
                <a:latin typeface="Calibri"/>
              </a:rPr>
              <a:t>+23,3 %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57860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66666"/>
                </a:solidFill>
                <a:latin typeface="Calibri"/>
              </a:rPr>
              <a:t>vs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204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00" b="1">
                <a:solidFill>
                  <a:srgbClr val="2C6E8E"/>
                </a:solidFill>
              </a:rPr>
              <a:t>▪  </a:t>
            </a:r>
            <a:r>
              <a:rPr sz="1100" b="1">
                <a:solidFill>
                  <a:srgbClr val="1A1A1A"/>
                </a:solidFill>
                <a:latin typeface="Calibri"/>
              </a:rPr>
              <a:t>Scénario de référence. </a:t>
            </a:r>
            <a:r>
              <a:rPr sz="1100">
                <a:solidFill>
                  <a:srgbClr val="1A1A1A"/>
                </a:solidFill>
                <a:latin typeface="Calibri"/>
              </a:rPr>
              <a:t>La projection prolonge la tendance sans intégrer l'effet des recommandations.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00" b="1">
                <a:solidFill>
                  <a:srgbClr val="2C6E8E"/>
                </a:solidFill>
              </a:rPr>
              <a:t>▪  </a:t>
            </a:r>
            <a:r>
              <a:rPr sz="1100" b="1">
                <a:solidFill>
                  <a:srgbClr val="1A1A1A"/>
                </a:solidFill>
                <a:latin typeface="Calibri"/>
              </a:rPr>
              <a:t>Pic de décembre. </a:t>
            </a:r>
            <a:r>
              <a:rPr sz="1100">
                <a:solidFill>
                  <a:srgbClr val="1A1A1A"/>
                </a:solidFill>
                <a:latin typeface="Calibri"/>
              </a:rPr>
              <a:t>113 204 $ attendus : anticiper les approvisionnements et les effectifs.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100" b="1">
                <a:solidFill>
                  <a:srgbClr val="2C6E8E"/>
                </a:solidFill>
              </a:rPr>
              <a:t>▪  </a:t>
            </a:r>
            <a:r>
              <a:rPr sz="1100" b="1">
                <a:solidFill>
                  <a:srgbClr val="1A1A1A"/>
                </a:solidFill>
                <a:latin typeface="Calibri"/>
              </a:rPr>
              <a:t>Un plancher. </a:t>
            </a:r>
            <a:r>
              <a:rPr sz="1100">
                <a:solidFill>
                  <a:srgbClr val="1A1A1A"/>
                </a:solidFill>
                <a:latin typeface="Calibri"/>
              </a:rPr>
              <a:t>Les actions correctrices doivent permettre de dépasser cette trajectoire.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Recommandations — actions immédiates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À engager sous 3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106424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64008" cy="1371600"/>
          </a:xfrm>
          <a:prstGeom prst="rect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68680" y="2002536"/>
            <a:ext cx="566928" cy="566928"/>
          </a:xfrm>
          <a:prstGeom prst="ellipse">
            <a:avLst/>
          </a:prstGeom>
          <a:solidFill>
            <a:srgbClr val="5B9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0136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60"/>
                </a:solidFill>
                <a:latin typeface="Calibri"/>
              </a:rPr>
              <a:t>Geler les approvisionnements et déstocker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21992"/>
            <a:ext cx="7040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Suspendre les commandes sur les 1 392 lignes en surstock. Déstocker les 239 références de classe C. Recentrer les achats sur les 254 références de classe 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984248"/>
            <a:ext cx="23774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52560" y="20756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B9279"/>
                </a:solidFill>
                <a:latin typeface="Calibri"/>
              </a:rPr>
              <a:t>2 à 3 M$ de trésorerie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172968"/>
            <a:ext cx="1106424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172968"/>
            <a:ext cx="64008" cy="137160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68680" y="3575303"/>
            <a:ext cx="566928" cy="566928"/>
          </a:xfrm>
          <a:prstGeom prst="ellipse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74136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60"/>
                </a:solidFill>
                <a:latin typeface="Calibri"/>
              </a:rPr>
              <a:t>Refonder le système d'objectifs commerciaux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94759"/>
            <a:ext cx="7040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Recalibrer sur le réalisé N-1 majoré de 15 à 20 %. Différencier par boutique. Réactiver le système de primes, aujourd'hui inopérant.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3557015"/>
            <a:ext cx="23774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0" y="364845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C6E8E"/>
                </a:solidFill>
                <a:latin typeface="Calibri"/>
              </a:rPr>
              <a:t>Crédibilité du pilotage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45736"/>
            <a:ext cx="11064240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66928" y="4745736"/>
            <a:ext cx="64008" cy="137160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68680" y="5148072"/>
            <a:ext cx="566928" cy="566928"/>
          </a:xfrm>
          <a:prstGeom prst="ellipse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946903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60"/>
                </a:solidFill>
                <a:latin typeface="Calibri"/>
              </a:rPr>
              <a:t>Corriger le calcul de la marge dans le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67527"/>
            <a:ext cx="7040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Remplacer la moyenne des marges par le rapport bénéfice total / CA total. Auditer les autres indicateurs construits de la même façon.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5129783"/>
            <a:ext cx="23774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0" y="522122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C6E8E"/>
                </a:solidFill>
                <a:latin typeface="Calibri"/>
              </a:rPr>
              <a:t>4,7 points corrigés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Recommandations — court et moyen terme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3 à 12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691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6733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Réduire les retours pour problème de taille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029967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Guide des tailles détaillé, photos portées, conseil sur WhatsApp.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5681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18 à 24 k$/an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572768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36208" y="1572768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7376" y="16916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6733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Auditer et réallouer le budget 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7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Refondre l'attribution, arrêter les 55 campagnes non rentables, renforcer WhatsApp.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1956816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190 à 400 k$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2779776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28986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28803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Fidéliser les 341 clients Champions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23697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Statut privilégié, conseiller dédié, accès prioritaire aux collections.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16382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1,17 M$ protégés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2779776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36208" y="2779776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37376" y="28986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8803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Réactiver les 631 clients inactifs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3697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Campagne WhatsApp ciblée, relance automatique à 60 et 120 jours.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8" y="3163824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80 à 150 k$/an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986784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66928" y="3986784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8096" y="410565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08736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Fiabiliser la livraison à domicile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44439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Auditer le processus interne d'expédition, objectif de 95 % de ponctualité.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7083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+1,1 pt de satisfaction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3986784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36208" y="3986784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7376" y="410565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408736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Réviser la politique promotionnelle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44439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Réserver les promotions au stock dormant, les cesser sur la classe 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9568" y="437083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3,9 pts de marge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193792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66928" y="5193792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8096" y="531266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" y="529437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Renforcer le contrôle des inventaires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" y="565099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Inventaires tournants mensuels sur la classe A, traçabilité des mouvements.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0288" y="557784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10 à 14 k$/an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6208" y="5193792"/>
            <a:ext cx="53492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236208" y="5193792"/>
            <a:ext cx="50292" cy="1051560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37376" y="531266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6E8E"/>
                </a:solidFill>
                <a:latin typeface="Calibr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0568" y="529437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60"/>
                </a:solidFill>
                <a:latin typeface="Calibri"/>
              </a:rPr>
              <a:t>Réduire la double concentration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565099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Plan de redressement Kolwezi et Mbuji-Mayi, sécurisation de la plateforme e-commerce.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59568" y="557784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B9279"/>
                </a:solidFill>
                <a:latin typeface="Calibri"/>
              </a:rPr>
              <a:t>Réduction du risque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Synthèse des impacts estimés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Potentiel d'amélioration du résultat annuel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0200"/>
          <a:ext cx="11064240" cy="2903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286000"/>
                <a:gridCol w="2743200"/>
                <a:gridCol w="155448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Levier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Impact estimé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Échéance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Déstockage et gel des approvisionnements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Trésorerie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2 000 000 à 3 000 000 $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Immédiat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Réallocation du budget marketing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Économie annuelle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190 000 à 400 000 $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3 à 6 mois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Réactivation des clients inactifs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CA additionnel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80 000 à 150 000 $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Homogénéisation des vendeurs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CA additionnel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60 000 à 100 000 $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Révision de la politique promotionnelle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Gain de marge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36 000 $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3 à 6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Réduction des retours pour taille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Économie annuelle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18 000 à 24 000 $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3 à 6 mois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Contrôle des inventaires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Réduction de la démarque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10 000 à 14 000 $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709160"/>
            <a:ext cx="11064240" cy="137160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5E43"/>
                </a:solidFill>
                <a:latin typeface="Calibri"/>
              </a:rPr>
              <a:t>Hors effet de trésorerie, le potentiel d'amélioration annuel du résultat est estimé entre 394 000 et 724 000 $.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132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C5E43"/>
                </a:solidFill>
                <a:latin typeface="Calibri"/>
              </a:rPr>
              <a:t>À rapprocher d'un bénéfice annuel actuel de 203 096 $ (2025) : la mise en œuvre des recommandations prioritaires peut plus que doubler la rentabilité de l'entreprise.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C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4A60"/>
                </a:solidFill>
                <a:latin typeface="Calibri"/>
              </a:rPr>
              <a:t>Annexe — qualité de la base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66666"/>
                </a:solidFill>
                <a:latin typeface="Calibri"/>
              </a:rPr>
              <a:t>Contrôles effectués avant 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0200"/>
          <a:ext cx="11064239" cy="2424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749039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Contrôle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Périmètre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Résultat</a:t>
                      </a:r>
                    </a:p>
                  </a:txBody>
                  <a:tcPr anchor="ctr">
                    <a:solidFill>
                      <a:srgbClr val="2C6E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Doublons de lignes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24 tables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Aucun doublon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Unicité des identifiants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19 tables transactionnelles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Aucun ID dupliqué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Intégrité référentielle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18 relations clé étrangère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Aucune référence orpheline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Valeurs aberrantes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Montants, marges, quantités, âges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Aucune valeur aberrante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Cohérence arithmétique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15 000 commandes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Calculs vérifiés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Valeurs manquantes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24 tables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Manquants structurels uniquement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251960"/>
            <a:ext cx="11064240" cy="86868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5E43"/>
                </a:solidFill>
                <a:latin typeface="Calibri"/>
              </a:rPr>
              <a:t>La base présente une qualité technique élevée. Les valeurs manquantes correspondent à des situations métier légitimes : ventes en ligne sans vendeur, achats hors promotion, clients particuliers sans entreprise, livraisons annulées.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C1553D"/>
                </a:solidFill>
                <a:latin typeface="Calibri"/>
              </a:rPr>
              <a:t>Réserve importante : les faiblesses identifiées ne portent pas sur les données brutes mais sur les indicateurs calculés — marge nette obtenue par moyenne de pourcentages, et attribution marketing qui affecte aux campagnes plus de chiffre d'affaires que l'entreprise n'en réalise. Ces deux formules doivent être corrigées.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>
                <a:solidFill>
                  <a:srgbClr val="E8A33D"/>
                </a:solidFill>
              </a:rPr>
              <a:t>▪  </a:t>
            </a:r>
            <a:r>
              <a:rPr sz="1500">
                <a:solidFill>
                  <a:srgbClr val="CFE2EC"/>
                </a:solidFill>
                <a:latin typeface="Calibri"/>
              </a:rPr>
              <a:t>Valider les trois actions immédiates : déstockage, refonte des objectifs, correction du calcul de marge.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>
                <a:solidFill>
                  <a:srgbClr val="E8A33D"/>
                </a:solidFill>
              </a:rPr>
              <a:t>▪  </a:t>
            </a:r>
            <a:r>
              <a:rPr sz="1500">
                <a:solidFill>
                  <a:srgbClr val="CFE2EC"/>
                </a:solidFill>
                <a:latin typeface="Calibri"/>
              </a:rPr>
              <a:t>Désigner un responsable et une échéance pour chacune des onze recommandations.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>
                <a:solidFill>
                  <a:srgbClr val="E8A33D"/>
                </a:solidFill>
              </a:rPr>
              <a:t>▪  </a:t>
            </a:r>
            <a:r>
              <a:rPr sz="1500">
                <a:solidFill>
                  <a:srgbClr val="CFE2EC"/>
                </a:solidFill>
                <a:latin typeface="Calibri"/>
              </a:rPr>
              <a:t>Mettre en place un tableau de bord unique, alimenté automatiquement, avec les indicateurs corrigés.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1500" b="1">
                <a:solidFill>
                  <a:srgbClr val="E8A33D"/>
                </a:solidFill>
              </a:rPr>
              <a:t>▪  </a:t>
            </a:r>
            <a:r>
              <a:rPr sz="1500">
                <a:solidFill>
                  <a:srgbClr val="CFE2EC"/>
                </a:solidFill>
                <a:latin typeface="Calibri"/>
              </a:rPr>
              <a:t>Programmer un point de suivi trimestriel sur l'avancement du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